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0" r:id="rId2"/>
  </p:sldMasterIdLst>
  <p:notesMasterIdLst>
    <p:notesMasterId r:id="rId15"/>
  </p:notesMasterIdLst>
  <p:sldIdLst>
    <p:sldId id="526" r:id="rId3"/>
    <p:sldId id="575" r:id="rId4"/>
    <p:sldId id="576" r:id="rId5"/>
    <p:sldId id="577" r:id="rId6"/>
    <p:sldId id="578" r:id="rId7"/>
    <p:sldId id="579" r:id="rId8"/>
    <p:sldId id="580" r:id="rId9"/>
    <p:sldId id="581" r:id="rId10"/>
    <p:sldId id="582" r:id="rId11"/>
    <p:sldId id="583" r:id="rId12"/>
    <p:sldId id="584" r:id="rId13"/>
    <p:sldId id="558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240" userDrawn="1">
          <p15:clr>
            <a:srgbClr val="A4A3A4"/>
          </p15:clr>
        </p15:guide>
        <p15:guide id="3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0810177C-6EA3-6186-7649-8D6D6D52A6A9}" name="Garima Mahendru" initials="GM" userId="S::gmahendru@edunetfoundation.org::096543be-f831-49f1-b7d3-23568e7a55d4" providerId="AD"/>
  <p188:author id="{E03327A5-5EEC-D76F-0947-6E3B989BA983}" name="Mohd Kaisar" initials="MK" userId="S::kaisar@edunetfoundation.org::9c081128-0687-4cc5-906f-c826450d4c39" providerId="AD"/>
  <p188:author id="{71631FAC-AC08-8817-355E-DDD25DC673CF}" name="Prita Pradhan" initials="PP" userId="S::prita@edunetfoundation.org::3cf5e9ae-a1ce-4d16-a2c2-46a0ba8102bb" providerId="AD"/>
  <p188:author id="{D0A8B7BB-36D1-777B-64C8-9A30C894A727}" name="Rashmi Mishra" initials="RM" userId="S::rmishra@edunetfoundation.org::6469e6c3-66fa-4f4f-9c10-a71ac4161bf2" providerId="AD"/>
  <p188:author id="{6C0DB0E9-B32A-9F23-3DA3-A439C27D96D2}" name="Sagar Chetan Mehta" initials="SM" userId="S::scmehta@edunetfoundation.org::ddaf8de6-076e-4574-ada4-319f72b03244" providerId="AD"/>
  <p188:author id="{1BCC0DF1-20A6-9F0E-4F8D-B350BE78BCCC}" name="Pravin Prajapati" initials="PP" userId="S::pravin@edunetfoundation.org::9f0ce95f-5aee-43b0-8285-2e8ab565fd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5CA"/>
    <a:srgbClr val="D1E0F7"/>
    <a:srgbClr val="56E1E3"/>
    <a:srgbClr val="FDEC99"/>
    <a:srgbClr val="F2C6AE"/>
    <a:srgbClr val="FFCC00"/>
    <a:srgbClr val="3779DB"/>
    <a:srgbClr val="ED1C24"/>
    <a:srgbClr val="FFD500"/>
    <a:srgbClr val="203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672"/>
        <p:guide pos="240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0785926" userId="4dd577ff-4015-4ba7-8ba3-4cfec9b61cb0" providerId="ADAL" clId="{5C23EBC8-668B-4F19-AB5A-3EC367B4B56B}"/>
    <pc:docChg chg="modSld">
      <pc:chgData name="S0785926" userId="4dd577ff-4015-4ba7-8ba3-4cfec9b61cb0" providerId="ADAL" clId="{5C23EBC8-668B-4F19-AB5A-3EC367B4B56B}" dt="2026-10-23T06:06:54.757" v="3"/>
      <pc:docMkLst>
        <pc:docMk/>
      </pc:docMkLst>
      <pc:sldChg chg="delSp mod">
        <pc:chgData name="S0785926" userId="4dd577ff-4015-4ba7-8ba3-4cfec9b61cb0" providerId="ADAL" clId="{5C23EBC8-668B-4F19-AB5A-3EC367B4B56B}" dt="2026-10-23T06:06:54.757" v="3"/>
        <pc:sldMkLst>
          <pc:docMk/>
          <pc:sldMk cId="2885361166" sldId="558"/>
        </pc:sldMkLst>
        <pc:spChg chg="del">
          <ac:chgData name="S0785926" userId="4dd577ff-4015-4ba7-8ba3-4cfec9b61cb0" providerId="ADAL" clId="{5C23EBC8-668B-4F19-AB5A-3EC367B4B56B}" dt="2026-10-23T06:06:54.757" v="3"/>
          <ac:spMkLst>
            <pc:docMk/>
            <pc:sldMk cId="2885361166" sldId="558"/>
            <ac:spMk id="12" creationId="{00000000-0000-0000-0000-000000000000}"/>
          </ac:spMkLst>
        </pc:spChg>
        <pc:spChg chg="del">
          <ac:chgData name="S0785926" userId="4dd577ff-4015-4ba7-8ba3-4cfec9b61cb0" providerId="ADAL" clId="{5C23EBC8-668B-4F19-AB5A-3EC367B4B56B}" dt="2026-10-23T06:06:54.757" v="1"/>
          <ac:spMkLst>
            <pc:docMk/>
            <pc:sldMk cId="2885361166" sldId="558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B285-B359-37B4-6BF3-31648320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989EB-A9EA-26D4-F3E9-AE6E1E281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C8208-4395-CE4B-9D91-78D7FDE46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10EA3-6BDA-E613-8012-9C7AB116E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592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Answer:</a:t>
            </a:r>
            <a:r>
              <a:rPr lang="en-US"/>
              <a:t> C</a:t>
            </a:r>
            <a:br>
              <a:rPr lang="en-US"/>
            </a:br>
            <a:r>
              <a:rPr lang="en-US" b="1"/>
              <a:t>Explanation:</a:t>
            </a:r>
            <a:r>
              <a:rPr lang="en-US"/>
              <a:t> AI has a broad scope and is applied across many industries including healthcare, finance, education, and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28D54-4CB4-418F-9EAD-5CF394B7AA3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8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78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80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6678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2FC9068-D610-4D15-5441-BC9F9322446E}"/>
              </a:ext>
            </a:extLst>
          </p:cNvPr>
          <p:cNvGrpSpPr/>
          <p:nvPr userDrawn="1"/>
        </p:nvGrpSpPr>
        <p:grpSpPr>
          <a:xfrm>
            <a:off x="9082391" y="-46610"/>
            <a:ext cx="2749685" cy="766455"/>
            <a:chOff x="8780834" y="0"/>
            <a:chExt cx="2749685" cy="76645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9F804EB-6345-A797-711C-48D98BCB20FE}"/>
                </a:ext>
              </a:extLst>
            </p:cNvPr>
            <p:cNvSpPr/>
            <p:nvPr userDrawn="1"/>
          </p:nvSpPr>
          <p:spPr>
            <a:xfrm>
              <a:off x="8784076" y="61605"/>
              <a:ext cx="2746443" cy="704850"/>
            </a:xfrm>
            <a:prstGeom prst="round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D8899F7-8050-0B38-4F2D-F4FA4A47EE98}"/>
                </a:ext>
              </a:extLst>
            </p:cNvPr>
            <p:cNvSpPr/>
            <p:nvPr userDrawn="1"/>
          </p:nvSpPr>
          <p:spPr>
            <a:xfrm>
              <a:off x="8780834" y="0"/>
              <a:ext cx="2746443" cy="7048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2E813B-0B60-218C-E82E-80946129BBFC}"/>
              </a:ext>
            </a:extLst>
          </p:cNvPr>
          <p:cNvSpPr/>
          <p:nvPr userDrawn="1"/>
        </p:nvSpPr>
        <p:spPr>
          <a:xfrm>
            <a:off x="11819106" y="1"/>
            <a:ext cx="372894" cy="571500"/>
          </a:xfrm>
          <a:prstGeom prst="roundRect">
            <a:avLst>
              <a:gd name="adj" fmla="val 0"/>
            </a:avLst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75DA04-1F5E-BD7B-62F7-97734DFC3AB0}"/>
              </a:ext>
            </a:extLst>
          </p:cNvPr>
          <p:cNvSpPr/>
          <p:nvPr userDrawn="1"/>
        </p:nvSpPr>
        <p:spPr>
          <a:xfrm>
            <a:off x="-1" y="1"/>
            <a:ext cx="9105089" cy="571500"/>
          </a:xfrm>
          <a:prstGeom prst="roundRect">
            <a:avLst>
              <a:gd name="adj" fmla="val 0"/>
            </a:avLst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65CEE-5AE4-B207-4CB6-BCEDACC59A2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382" y="54933"/>
            <a:ext cx="1575883" cy="51254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3D1C99F-0F6A-6C9D-6D08-6333F4890EFE}"/>
              </a:ext>
            </a:extLst>
          </p:cNvPr>
          <p:cNvGrpSpPr/>
          <p:nvPr userDrawn="1"/>
        </p:nvGrpSpPr>
        <p:grpSpPr>
          <a:xfrm>
            <a:off x="0" y="6657974"/>
            <a:ext cx="12192000" cy="216961"/>
            <a:chOff x="0" y="6657974"/>
            <a:chExt cx="12192000" cy="216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B063277-98E8-D02C-0E85-E7F7C3BD9C74}"/>
                </a:ext>
              </a:extLst>
            </p:cNvPr>
            <p:cNvSpPr/>
            <p:nvPr/>
          </p:nvSpPr>
          <p:spPr>
            <a:xfrm>
              <a:off x="0" y="6802583"/>
              <a:ext cx="12192000" cy="72352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A7B43D3-AD84-5632-4727-9AD3A9F1FE93}"/>
                </a:ext>
              </a:extLst>
            </p:cNvPr>
            <p:cNvSpPr/>
            <p:nvPr/>
          </p:nvSpPr>
          <p:spPr>
            <a:xfrm>
              <a:off x="0" y="6657974"/>
              <a:ext cx="12192000" cy="147227"/>
            </a:xfrm>
            <a:prstGeom prst="rect">
              <a:avLst/>
            </a:prstGeom>
            <a:solidFill>
              <a:srgbClr val="FFD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920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5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09182-3DA8-A994-0243-BAD37D86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0BAE3FC-1151-BD89-6A32-581A58B87A80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DA520-8F34-9EF8-11C2-E127D1DB8D2C}"/>
              </a:ext>
            </a:extLst>
          </p:cNvPr>
          <p:cNvSpPr txBox="1"/>
          <p:nvPr/>
        </p:nvSpPr>
        <p:spPr>
          <a:xfrm>
            <a:off x="0" y="-250913"/>
            <a:ext cx="12192000" cy="7108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62" name="Freeform 2">
            <a:extLst>
              <a:ext uri="{FF2B5EF4-FFF2-40B4-BE49-F238E27FC236}">
                <a16:creationId xmlns:a16="http://schemas.microsoft.com/office/drawing/2014/main" id="{D0939143-6626-B34F-14BB-8DCBA35C62A9}"/>
              </a:ext>
            </a:extLst>
          </p:cNvPr>
          <p:cNvSpPr/>
          <p:nvPr/>
        </p:nvSpPr>
        <p:spPr>
          <a:xfrm>
            <a:off x="0" y="-1"/>
            <a:ext cx="6648450" cy="6972301"/>
          </a:xfrm>
          <a:custGeom>
            <a:avLst/>
            <a:gdLst/>
            <a:ahLst/>
            <a:cxnLst/>
            <a:rect l="l" t="t" r="r" b="b"/>
            <a:pathLst>
              <a:path w="8150888" h="8165735">
                <a:moveTo>
                  <a:pt x="0" y="0"/>
                </a:moveTo>
                <a:lnTo>
                  <a:pt x="8150888" y="0"/>
                </a:lnTo>
                <a:lnTo>
                  <a:pt x="8150888" y="8165735"/>
                </a:lnTo>
                <a:lnTo>
                  <a:pt x="0" y="8165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-49823" t="-22922" r="-1" b="-20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3FEF162-DE07-B153-3D05-04A70F9B7B35}"/>
              </a:ext>
            </a:extLst>
          </p:cNvPr>
          <p:cNvSpPr/>
          <p:nvPr/>
        </p:nvSpPr>
        <p:spPr>
          <a:xfrm>
            <a:off x="641684" y="640538"/>
            <a:ext cx="11012905" cy="5816005"/>
          </a:xfrm>
          <a:prstGeom prst="roundRect">
            <a:avLst>
              <a:gd name="adj" fmla="val 7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13078CE-1BA1-5470-2C9D-23B1943171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942" y="1241814"/>
            <a:ext cx="1945080" cy="632624"/>
          </a:xfrm>
          <a:prstGeom prst="rect">
            <a:avLst/>
          </a:prstGeom>
        </p:spPr>
      </p:pic>
      <p:sp>
        <p:nvSpPr>
          <p:cNvPr id="72" name="TextBox 11">
            <a:extLst>
              <a:ext uri="{FF2B5EF4-FFF2-40B4-BE49-F238E27FC236}">
                <a16:creationId xmlns:a16="http://schemas.microsoft.com/office/drawing/2014/main" id="{413EB221-FE9D-821E-C362-0859073F24A0}"/>
              </a:ext>
            </a:extLst>
          </p:cNvPr>
          <p:cNvSpPr txBox="1"/>
          <p:nvPr/>
        </p:nvSpPr>
        <p:spPr>
          <a:xfrm>
            <a:off x="1389451" y="3710939"/>
            <a:ext cx="5715000" cy="600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1300" dirty="0">
                <a:solidFill>
                  <a:srgbClr val="112642"/>
                </a:solidFill>
              </a:rPr>
              <a:t>TAMIL SELVAN SE</a:t>
            </a:r>
            <a:br>
              <a:rPr dirty="0"/>
            </a:br>
            <a:r>
              <a:rPr sz="1300" dirty="0">
                <a:solidFill>
                  <a:srgbClr val="112642"/>
                </a:solidFill>
              </a:rPr>
              <a:t>T</a:t>
            </a:r>
            <a:r>
              <a:rPr lang="en-US" sz="1300" dirty="0">
                <a:solidFill>
                  <a:srgbClr val="112642"/>
                </a:solidFill>
              </a:rPr>
              <a:t>NIJANTHAN R</a:t>
            </a:r>
          </a:p>
          <a:p>
            <a:r>
              <a:rPr lang="en-US" sz="1300" dirty="0">
                <a:solidFill>
                  <a:srgbClr val="112642"/>
                </a:solidFill>
              </a:rPr>
              <a:t>SAM B</a:t>
            </a:r>
            <a:endParaRPr sz="1300" dirty="0">
              <a:solidFill>
                <a:srgbClr val="112642"/>
              </a:solidFill>
            </a:endParaRPr>
          </a:p>
        </p:txBody>
      </p:sp>
      <p:sp>
        <p:nvSpPr>
          <p:cNvPr id="73" name="TextBox 12">
            <a:extLst>
              <a:ext uri="{FF2B5EF4-FFF2-40B4-BE49-F238E27FC236}">
                <a16:creationId xmlns:a16="http://schemas.microsoft.com/office/drawing/2014/main" id="{EB3E80FC-3316-BC6C-6FDE-F2B28FAD282B}"/>
              </a:ext>
            </a:extLst>
          </p:cNvPr>
          <p:cNvSpPr txBox="1"/>
          <p:nvPr/>
        </p:nvSpPr>
        <p:spPr>
          <a:xfrm>
            <a:off x="1419225" y="5166360"/>
            <a:ext cx="349929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1200">
                <a:solidFill>
                  <a:srgbClr val="112642"/>
                </a:solidFill>
              </a:rPr>
              <a:t>Mentor: Add Faculty Mentor Name</a:t>
            </a:r>
            <a:br/>
            <a:r>
              <a:rPr sz="1200">
                <a:solidFill>
                  <a:srgbClr val="112642"/>
                </a:solidFill>
              </a:rPr>
              <a:t>University College of Engineering, Kanchipuram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78BA191-130D-770C-87F6-905033D32DA6}"/>
              </a:ext>
            </a:extLst>
          </p:cNvPr>
          <p:cNvCxnSpPr>
            <a:cxnSpLocks/>
          </p:cNvCxnSpPr>
          <p:nvPr/>
        </p:nvCxnSpPr>
        <p:spPr>
          <a:xfrm>
            <a:off x="1419225" y="5074920"/>
            <a:ext cx="3981450" cy="0"/>
          </a:xfrm>
          <a:prstGeom prst="line">
            <a:avLst/>
          </a:prstGeom>
          <a:ln w="6350">
            <a:solidFill>
              <a:srgbClr val="2032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7EA5EE7F-3874-18F5-AF1A-4E8D00A8A28C}"/>
              </a:ext>
            </a:extLst>
          </p:cNvPr>
          <p:cNvSpPr/>
          <p:nvPr/>
        </p:nvSpPr>
        <p:spPr>
          <a:xfrm rot="5400000">
            <a:off x="3314495" y="-1034939"/>
            <a:ext cx="197544" cy="3332165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D159E21-5CD8-7E52-4DE4-711974E72E68}"/>
              </a:ext>
            </a:extLst>
          </p:cNvPr>
          <p:cNvGrpSpPr/>
          <p:nvPr/>
        </p:nvGrpSpPr>
        <p:grpSpPr>
          <a:xfrm>
            <a:off x="7474168" y="475759"/>
            <a:ext cx="5191859" cy="6858000"/>
            <a:chOff x="6842415" y="89416"/>
            <a:chExt cx="5217433" cy="6858000"/>
          </a:xfrm>
        </p:grpSpPr>
        <p:sp>
          <p:nvSpPr>
            <p:cNvPr id="48" name="Freeform 4">
              <a:extLst>
                <a:ext uri="{FF2B5EF4-FFF2-40B4-BE49-F238E27FC236}">
                  <a16:creationId xmlns:a16="http://schemas.microsoft.com/office/drawing/2014/main" id="{FFD0B593-DE7A-53D8-0BE5-91CD86208CB1}"/>
                </a:ext>
              </a:extLst>
            </p:cNvPr>
            <p:cNvSpPr/>
            <p:nvPr/>
          </p:nvSpPr>
          <p:spPr>
            <a:xfrm>
              <a:off x="9866433" y="89416"/>
              <a:ext cx="2193415" cy="6858000"/>
            </a:xfrm>
            <a:custGeom>
              <a:avLst/>
              <a:gdLst/>
              <a:ahLst/>
              <a:cxnLst/>
              <a:rect l="l" t="t" r="r" b="b"/>
              <a:pathLst>
                <a:path w="4386830" h="9179069">
                  <a:moveTo>
                    <a:pt x="0" y="0"/>
                  </a:moveTo>
                  <a:lnTo>
                    <a:pt x="4386830" y="0"/>
                  </a:lnTo>
                  <a:lnTo>
                    <a:pt x="4386830" y="9179069"/>
                  </a:lnTo>
                  <a:lnTo>
                    <a:pt x="0" y="9179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9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9994" r="-100000" b="-138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4293BBD-02B5-4874-0631-6B47E5DB9E05}"/>
                </a:ext>
              </a:extLst>
            </p:cNvPr>
            <p:cNvSpPr/>
            <p:nvPr/>
          </p:nvSpPr>
          <p:spPr>
            <a:xfrm>
              <a:off x="10932885" y="3282950"/>
              <a:ext cx="161925" cy="2771775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609490D-ABC0-C09D-D03D-244E88709499}"/>
                </a:ext>
              </a:extLst>
            </p:cNvPr>
            <p:cNvSpPr/>
            <p:nvPr/>
          </p:nvSpPr>
          <p:spPr>
            <a:xfrm rot="5400000">
              <a:off x="9436100" y="4464051"/>
              <a:ext cx="152400" cy="3133725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B70F9B1-4938-0653-DDF0-7B30F36B2EF8}"/>
                </a:ext>
              </a:extLst>
            </p:cNvPr>
            <p:cNvSpPr txBox="1"/>
            <p:nvPr/>
          </p:nvSpPr>
          <p:spPr>
            <a:xfrm>
              <a:off x="9976139" y="3333750"/>
              <a:ext cx="456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62E9947-DB1D-BFEF-4B4B-B83BB8C42DE4}"/>
                </a:ext>
              </a:extLst>
            </p:cNvPr>
            <p:cNvSpPr txBox="1"/>
            <p:nvPr/>
          </p:nvSpPr>
          <p:spPr>
            <a:xfrm>
              <a:off x="9290339" y="4595815"/>
              <a:ext cx="456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0DA596D-B81B-6101-DACC-0F35E4F2DAE6}"/>
                </a:ext>
              </a:extLst>
            </p:cNvPr>
            <p:cNvSpPr txBox="1"/>
            <p:nvPr/>
          </p:nvSpPr>
          <p:spPr>
            <a:xfrm>
              <a:off x="10528591" y="4567242"/>
              <a:ext cx="30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A3659A8-8ADD-4E36-FFA0-20D118405D2A}"/>
                </a:ext>
              </a:extLst>
            </p:cNvPr>
            <p:cNvSpPr txBox="1"/>
            <p:nvPr/>
          </p:nvSpPr>
          <p:spPr>
            <a:xfrm>
              <a:off x="8775991" y="3609980"/>
              <a:ext cx="30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8E264A8-B019-4969-3A85-D5C8FF6AF019}"/>
                </a:ext>
              </a:extLst>
            </p:cNvPr>
            <p:cNvSpPr txBox="1"/>
            <p:nvPr/>
          </p:nvSpPr>
          <p:spPr>
            <a:xfrm>
              <a:off x="9518941" y="2828929"/>
              <a:ext cx="3060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F42F0E7-E60C-E7CE-DA73-19F9737E1060}"/>
                </a:ext>
              </a:extLst>
            </p:cNvPr>
            <p:cNvSpPr txBox="1"/>
            <p:nvPr/>
          </p:nvSpPr>
          <p:spPr>
            <a:xfrm>
              <a:off x="8233065" y="275749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33B4C38-9BF6-0132-B889-102D1D84DDC4}"/>
                </a:ext>
              </a:extLst>
            </p:cNvPr>
            <p:cNvSpPr txBox="1"/>
            <p:nvPr/>
          </p:nvSpPr>
          <p:spPr>
            <a:xfrm>
              <a:off x="7671090" y="2776545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C99D557-D7AE-1E40-9E27-86852E7FF2C5}"/>
                </a:ext>
              </a:extLst>
            </p:cNvPr>
            <p:cNvSpPr txBox="1"/>
            <p:nvPr/>
          </p:nvSpPr>
          <p:spPr>
            <a:xfrm>
              <a:off x="6842415" y="324433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F226516-532D-73A5-A4DD-BF364F1395B6}"/>
                </a:ext>
              </a:extLst>
            </p:cNvPr>
            <p:cNvSpPr txBox="1"/>
            <p:nvPr/>
          </p:nvSpPr>
          <p:spPr>
            <a:xfrm>
              <a:off x="7532978" y="2387084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78EF67B-7429-F6F9-3452-36A9B7EEBC29}"/>
                </a:ext>
              </a:extLst>
            </p:cNvPr>
            <p:cNvSpPr txBox="1"/>
            <p:nvPr/>
          </p:nvSpPr>
          <p:spPr>
            <a:xfrm>
              <a:off x="8642642" y="4706421"/>
              <a:ext cx="3060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259031C-2697-8997-5EB6-C88A733EC3F2}"/>
                </a:ext>
              </a:extLst>
            </p:cNvPr>
            <p:cNvSpPr txBox="1"/>
            <p:nvPr/>
          </p:nvSpPr>
          <p:spPr>
            <a:xfrm>
              <a:off x="9894859" y="5362895"/>
              <a:ext cx="4563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</a:rPr>
                <a:t>AI</a:t>
              </a:r>
            </a:p>
          </p:txBody>
        </p:sp>
      </p:grpSp>
      <p:sp>
        <p:nvSpPr>
          <p:cNvPr id="96" name="Freeform 15">
            <a:extLst>
              <a:ext uri="{FF2B5EF4-FFF2-40B4-BE49-F238E27FC236}">
                <a16:creationId xmlns:a16="http://schemas.microsoft.com/office/drawing/2014/main" id="{1C7C2BDE-1D07-FE88-AD1D-9F8BFFA227F4}"/>
              </a:ext>
            </a:extLst>
          </p:cNvPr>
          <p:cNvSpPr/>
          <p:nvPr/>
        </p:nvSpPr>
        <p:spPr>
          <a:xfrm>
            <a:off x="1656846" y="347936"/>
            <a:ext cx="3390899" cy="593408"/>
          </a:xfrm>
          <a:custGeom>
            <a:avLst/>
            <a:gdLst/>
            <a:ahLst/>
            <a:cxnLst/>
            <a:rect l="l" t="t" r="r" b="b"/>
            <a:pathLst>
              <a:path w="16230600" h="2840355">
                <a:moveTo>
                  <a:pt x="0" y="0"/>
                </a:moveTo>
                <a:lnTo>
                  <a:pt x="16230600" y="0"/>
                </a:lnTo>
                <a:lnTo>
                  <a:pt x="16230600" y="2840355"/>
                </a:lnTo>
                <a:lnTo>
                  <a:pt x="0" y="2840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FA17BF81-B928-7F80-A4A9-6E8F787B9040}"/>
              </a:ext>
            </a:extLst>
          </p:cNvPr>
          <p:cNvSpPr txBox="1"/>
          <p:nvPr/>
        </p:nvSpPr>
        <p:spPr>
          <a:xfrm>
            <a:off x="1389430" y="2394397"/>
            <a:ext cx="486401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2500" b="1">
                <a:solidFill>
                  <a:srgbClr val="112642"/>
                </a:solidFill>
              </a:rPr>
              <a:t>ECOCHARGE AI</a:t>
            </a:r>
            <a:br/>
            <a:r>
              <a:rPr sz="2500" b="1">
                <a:solidFill>
                  <a:srgbClr val="112642"/>
                </a:solidFill>
              </a:rPr>
              <a:t>Smart, Solar-Aware EV Charging &amp; Carbon-Saving System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C9D6B20E-668A-11D2-5D28-79A749C7617C}"/>
              </a:ext>
            </a:extLst>
          </p:cNvPr>
          <p:cNvSpPr/>
          <p:nvPr/>
        </p:nvSpPr>
        <p:spPr>
          <a:xfrm>
            <a:off x="5045498" y="755698"/>
            <a:ext cx="6504818" cy="5987142"/>
          </a:xfrm>
          <a:custGeom>
            <a:avLst/>
            <a:gdLst/>
            <a:ahLst/>
            <a:cxnLst/>
            <a:rect l="l" t="t" r="r" b="b"/>
            <a:pathLst>
              <a:path w="8283781" h="7624530">
                <a:moveTo>
                  <a:pt x="0" y="0"/>
                </a:moveTo>
                <a:lnTo>
                  <a:pt x="8283781" y="0"/>
                </a:lnTo>
                <a:lnTo>
                  <a:pt x="8283781" y="7624530"/>
                </a:lnTo>
                <a:lnTo>
                  <a:pt x="0" y="7624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60CBF3-EF9F-A813-3FD6-A4C68A946E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5128" y="1356300"/>
            <a:ext cx="6264612" cy="4698459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44061" y="5541051"/>
            <a:ext cx="987552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28B5E"/>
                </a:solidFill>
                <a:latin typeface="Aptos"/>
              </a:defRPr>
            </a:pPr>
            <a:r>
              <a:rPr dirty="0"/>
              <a:t>AI  •  Electric Mobility  •  Renewable Energy  •  Green Skills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36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</a:p>
        </p:txBody>
      </p:sp>
      <p:sp>
        <p:nvSpPr>
          <p:cNvPr id="102" name="Content Card"/>
          <p:cNvSpPr/>
          <p:nvPr/>
        </p:nvSpPr>
        <p:spPr>
          <a:xfrm>
            <a:off x="457200" y="114300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103" name="Number 1"/>
          <p:cNvSpPr/>
          <p:nvPr/>
        </p:nvSpPr>
        <p:spPr>
          <a:xfrm>
            <a:off x="64008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04" name="Content Card"/>
          <p:cNvSpPr/>
          <p:nvPr/>
        </p:nvSpPr>
        <p:spPr>
          <a:xfrm>
            <a:off x="4307840" y="114300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 – Introduction</a:t>
            </a:r>
          </a:p>
        </p:txBody>
      </p:sp>
      <p:sp>
        <p:nvSpPr>
          <p:cNvPr id="105" name="Number 2"/>
          <p:cNvSpPr/>
          <p:nvPr/>
        </p:nvSpPr>
        <p:spPr>
          <a:xfrm>
            <a:off x="449072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06" name="Content Card"/>
          <p:cNvSpPr/>
          <p:nvPr/>
        </p:nvSpPr>
        <p:spPr>
          <a:xfrm>
            <a:off x="8158480" y="1143000"/>
            <a:ext cx="3576320" cy="1371600"/>
          </a:xfrm>
          <a:prstGeom prst="roundRect">
            <a:avLst>
              <a:gd name="adj" fmla="val 16667"/>
            </a:avLst>
          </a:prstGeom>
          <a:solidFill>
            <a:srgbClr val="FEF5CA"/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Users</a:t>
            </a:r>
          </a:p>
        </p:txBody>
      </p:sp>
      <p:sp>
        <p:nvSpPr>
          <p:cNvPr id="107" name="Number 3"/>
          <p:cNvSpPr/>
          <p:nvPr/>
        </p:nvSpPr>
        <p:spPr>
          <a:xfrm>
            <a:off x="8341360" y="148590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8" name="Content Card"/>
          <p:cNvSpPr/>
          <p:nvPr/>
        </p:nvSpPr>
        <p:spPr>
          <a:xfrm>
            <a:off x="45720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Wow Factors in Project</a:t>
            </a:r>
          </a:p>
        </p:txBody>
      </p:sp>
      <p:sp>
        <p:nvSpPr>
          <p:cNvPr id="109" name="Number 4"/>
          <p:cNvSpPr/>
          <p:nvPr/>
        </p:nvSpPr>
        <p:spPr>
          <a:xfrm>
            <a:off x="64008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10" name="Content Card"/>
          <p:cNvSpPr/>
          <p:nvPr/>
        </p:nvSpPr>
        <p:spPr>
          <a:xfrm>
            <a:off x="430784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/ Block Diagram / Flow of Project</a:t>
            </a:r>
          </a:p>
        </p:txBody>
      </p:sp>
      <p:sp>
        <p:nvSpPr>
          <p:cNvPr id="111" name="Number 5"/>
          <p:cNvSpPr/>
          <p:nvPr/>
        </p:nvSpPr>
        <p:spPr>
          <a:xfrm>
            <a:off x="449072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12" name="Content Card"/>
          <p:cNvSpPr/>
          <p:nvPr/>
        </p:nvSpPr>
        <p:spPr>
          <a:xfrm>
            <a:off x="8158480" y="278892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113" name="Number 6"/>
          <p:cNvSpPr/>
          <p:nvPr/>
        </p:nvSpPr>
        <p:spPr>
          <a:xfrm>
            <a:off x="8341360" y="313182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114" name="Content Card"/>
          <p:cNvSpPr/>
          <p:nvPr/>
        </p:nvSpPr>
        <p:spPr>
          <a:xfrm>
            <a:off x="45720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rgbClr val="FEF5CA"/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/ Outcomes</a:t>
            </a:r>
          </a:p>
        </p:txBody>
      </p:sp>
      <p:sp>
        <p:nvSpPr>
          <p:cNvPr id="115" name="Number 7"/>
          <p:cNvSpPr/>
          <p:nvPr/>
        </p:nvSpPr>
        <p:spPr>
          <a:xfrm>
            <a:off x="64008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116" name="Content Card"/>
          <p:cNvSpPr/>
          <p:nvPr/>
        </p:nvSpPr>
        <p:spPr>
          <a:xfrm>
            <a:off x="430784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17" name="Number 8"/>
          <p:cNvSpPr/>
          <p:nvPr/>
        </p:nvSpPr>
        <p:spPr>
          <a:xfrm>
            <a:off x="449072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118" name="Content Card"/>
          <p:cNvSpPr/>
          <p:nvPr/>
        </p:nvSpPr>
        <p:spPr>
          <a:xfrm>
            <a:off x="8158480" y="4434840"/>
            <a:ext cx="357632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051560" tIns="0" rIns="137160" bIns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2032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Perspective</a:t>
            </a:r>
          </a:p>
        </p:txBody>
      </p:sp>
      <p:sp>
        <p:nvSpPr>
          <p:cNvPr id="119" name="Number 9"/>
          <p:cNvSpPr/>
          <p:nvPr/>
        </p:nvSpPr>
        <p:spPr>
          <a:xfrm>
            <a:off x="8341360" y="4777740"/>
            <a:ext cx="685800" cy="685800"/>
          </a:xfrm>
          <a:prstGeom prst="ellipse">
            <a:avLst/>
          </a:prstGeom>
          <a:solidFill>
            <a:srgbClr val="203263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368" y="1965960"/>
            <a:ext cx="1060704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2642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808" y="571500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28B5E"/>
                </a:solidFill>
                <a:latin typeface="Aptos"/>
              </a:defRPr>
            </a:pPr>
            <a:r>
              <a:t>Project promise: turn charging data into practical, greener decisions.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121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The Problem: EVs Are Only as Green as Their Charging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7240" y="1993392"/>
            <a:ext cx="10332720" cy="320040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Charging immediately can increase electricity demand during busy peak hours.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Solar power is variable; its availability may not match when vehicles arrive.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Users often cannot easily compare charging cost, renewable-energy use, and estimated emissions.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A practical, low-cost decision-support tool can help schedule charging more intelligently.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2960" y="5486400"/>
            <a:ext cx="1014984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28B5E"/>
                </a:solidFill>
                <a:latin typeface="Aptos"/>
              </a:defRPr>
            </a:pPr>
            <a:r>
              <a:t>Design question: How can AI help charge an EV at a cleaner time without ignoring the driver's required departure time?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 - Introduction</a:t>
            </a:r>
          </a:p>
        </p:txBody>
      </p:sp>
      <p:sp>
        <p:nvSpPr>
          <p:cNvPr id="123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1417320"/>
            <a:ext cx="1069848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C6974"/>
                </a:solidFill>
                <a:latin typeface="Aptos"/>
              </a:defRPr>
            </a:pPr>
            <a:r>
              <a:t>A software-first prototype that can later connect to real sensors and chargers.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77240" y="1993392"/>
            <a:ext cx="5577840" cy="347472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Input: solar forecast, grid carbon-intensity estimate, tariff, EV arrival time, target charge and departure time.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AI module: predict short-term solar generation and/or charging demand from historical or sample data.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Scheduler: rank feasible time slots using cost, carbon and user constraints.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Dashboard: show the recommended schedule and compare it with immediate charging.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29400" y="2057400"/>
            <a:ext cx="429768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28B5E"/>
                </a:solidFill>
                <a:latin typeface="Aptos"/>
              </a:defRPr>
            </a:pPr>
            <a:r>
              <a:t>Example decision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29400" y="2697480"/>
            <a:ext cx="4251960" cy="2194560"/>
          </a:xfrm>
          <a:prstGeom prst="rect">
            <a:avLst/>
          </a:prstGeom>
          <a:solidFill>
            <a:srgbClr val="EBF6F1"/>
          </a:solidFill>
          <a:ln>
            <a:noFill/>
          </a:ln>
        </p:spPr>
        <p:txBody>
          <a:bodyPr wrap="square" lIns="164592" tIns="164592" rIns="164592" bIns="16459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If solar availability is high at midday and the EV can remain connected, the system can recommend charging in that window—provided the target charge is reached before departure.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29400" y="5074920"/>
            <a:ext cx="425196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C697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629400" y="5413248"/>
            <a:ext cx="4251960" cy="777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974"/>
                </a:solidFill>
                <a:latin typeface="Aptos"/>
              </a:defRPr>
            </a:pPr>
            <a:r>
              <a:t>This is a decision-support prototype, not a certified charger or battery-control device.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Users</a:t>
            </a:r>
          </a:p>
        </p:txBody>
      </p:sp>
      <p:sp>
        <p:nvSpPr>
          <p:cNvPr id="125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Who Benefits?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2960" y="2011680"/>
            <a:ext cx="10058400" cy="347472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EV owners: see a suggested charging window based on their target charge and departure time.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College campuses: explore solar-aware charging for staff and student parking.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Fleet operators: plan charging for multiple vehicles while reducing peak demand.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Charging-station operators: understand expected demand and potential renewable-energy use.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Sustainability teams: track estimated cost and emissions indicators for reporting.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60" y="5715000"/>
            <a:ext cx="1005840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28B5E"/>
                </a:solidFill>
                <a:latin typeface="Aptos"/>
              </a:defRPr>
            </a:pPr>
            <a:r>
              <a:t>First pilot setting: a campus parking area with a solar canopy or rooftop solar supply.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Wow Factors in Project</a:t>
            </a:r>
          </a:p>
        </p:txBody>
      </p:sp>
      <p:sp>
        <p:nvSpPr>
          <p:cNvPr id="127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What Makes EcoCharge AI Stand Out?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7240" y="1965960"/>
            <a:ext cx="10332720" cy="402336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Three-way decision: cost + estimated carbon emissions + renewable-energy availability.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Driver-aware: respects arrival, departure and required energy rather than blindly delaying charging.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Explainable recommendation: tells the user why a time slot was selected.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What-if comparison: immediate charging vs. solar-aware scheduling vs. low-tariff scheduling.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Green impact panel: reports estimated renewable-energy share, cost difference and CO₂ difference.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Expandable design: can later connect to IoT meters, solar sensors and charger APIs.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28B5E"/>
                </a:solidFill>
                <a:latin typeface="Aptos"/>
              </a:defRPr>
            </a:pPr>
            <a:r>
              <a:t>Novelty claim to defend: an explainable, driver-constrained, multi-objective charging recommendation prototype.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Modelling/Block Diagram/Flow of Project</a:t>
            </a:r>
          </a:p>
        </p:txBody>
      </p:sp>
      <p:sp>
        <p:nvSpPr>
          <p:cNvPr id="129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System Model &amp; Project Flow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5800" y="1417320"/>
            <a:ext cx="1069848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C6974"/>
                </a:solidFill>
                <a:latin typeface="Aptos"/>
              </a:defRPr>
            </a:pPr>
            <a:r>
              <a:t>Prototype data flow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02920" y="2057400"/>
            <a:ext cx="2011680" cy="777240"/>
          </a:xfrm>
          <a:prstGeom prst="roundRect">
            <a:avLst/>
          </a:prstGeom>
          <a:solidFill>
            <a:srgbClr val="E1F0EA"/>
          </a:solidFill>
          <a:ln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642"/>
                </a:solidFill>
                <a:latin typeface="Aptos"/>
              </a:defRPr>
            </a:pPr>
            <a:r>
              <a:t>DATA INPUTS</a:t>
            </a:r>
          </a:p>
          <a:p>
            <a:pPr algn="ctr">
              <a:defRPr sz="1200" b="0">
                <a:solidFill>
                  <a:srgbClr val="112642"/>
                </a:solidFill>
                <a:latin typeface="Aptos"/>
              </a:defRPr>
            </a:pPr>
            <a:r>
              <a:t>Solar • Tariff • EV needs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788920" y="2057400"/>
            <a:ext cx="2011680" cy="777240"/>
          </a:xfrm>
          <a:prstGeom prst="roundRect">
            <a:avLst/>
          </a:prstGeom>
          <a:solidFill>
            <a:srgbClr val="E7F0F7"/>
          </a:solidFill>
          <a:ln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642"/>
                </a:solidFill>
                <a:latin typeface="Aptos"/>
              </a:defRPr>
            </a:pPr>
            <a:r>
              <a:t>DATA PREP</a:t>
            </a:r>
          </a:p>
          <a:p>
            <a:pPr algn="ctr">
              <a:defRPr sz="1200" b="0">
                <a:solidFill>
                  <a:srgbClr val="112642"/>
                </a:solidFill>
                <a:latin typeface="Aptos"/>
              </a:defRPr>
            </a:pPr>
            <a:r>
              <a:t>Clean • Align • Validate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074920" y="2057400"/>
            <a:ext cx="2011680" cy="777240"/>
          </a:xfrm>
          <a:prstGeom prst="roundRect">
            <a:avLst/>
          </a:prstGeom>
          <a:solidFill>
            <a:srgbClr val="E7F0F7"/>
          </a:solidFill>
          <a:ln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642"/>
                </a:solidFill>
                <a:latin typeface="Aptos"/>
              </a:defRPr>
            </a:pPr>
            <a:r>
              <a:t>AI FORECAST</a:t>
            </a:r>
          </a:p>
          <a:p>
            <a:pPr algn="ctr">
              <a:defRPr sz="1200" b="0">
                <a:solidFill>
                  <a:srgbClr val="112642"/>
                </a:solidFill>
                <a:latin typeface="Aptos"/>
              </a:defRPr>
            </a:pPr>
            <a:r>
              <a:t>Solar / demand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360920" y="2057400"/>
            <a:ext cx="2011680" cy="777240"/>
          </a:xfrm>
          <a:prstGeom prst="roundRect">
            <a:avLst/>
          </a:prstGeom>
          <a:solidFill>
            <a:srgbClr val="E1F0EA"/>
          </a:solidFill>
          <a:ln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642"/>
                </a:solidFill>
                <a:latin typeface="Aptos"/>
              </a:defRPr>
            </a:pPr>
            <a:r>
              <a:t>SCHEDULER</a:t>
            </a:r>
          </a:p>
          <a:p>
            <a:pPr algn="ctr">
              <a:defRPr sz="1200" b="0">
                <a:solidFill>
                  <a:srgbClr val="112642"/>
                </a:solidFill>
                <a:latin typeface="Aptos"/>
              </a:defRPr>
            </a:pPr>
            <a:r>
              <a:t>Cost + carbon + constraints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646920" y="2057400"/>
            <a:ext cx="2011680" cy="777240"/>
          </a:xfrm>
          <a:prstGeom prst="roundRect">
            <a:avLst/>
          </a:prstGeom>
          <a:solidFill>
            <a:srgbClr val="FAF0DD"/>
          </a:solidFill>
          <a:ln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2642"/>
                </a:solidFill>
                <a:latin typeface="Aptos"/>
              </a:defRPr>
            </a:pPr>
            <a:r>
              <a:t>DASHBOARD</a:t>
            </a:r>
          </a:p>
          <a:p>
            <a:pPr algn="ctr">
              <a:defRPr sz="1200" b="0">
                <a:solidFill>
                  <a:srgbClr val="112642"/>
                </a:solidFill>
                <a:latin typeface="Aptos"/>
              </a:defRPr>
            </a:pPr>
            <a:r>
              <a:t>Plan + comparison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542032" y="2221992"/>
            <a:ext cx="2286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228B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28032" y="2221992"/>
            <a:ext cx="2286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228B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114032" y="2221992"/>
            <a:ext cx="2286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228B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400032" y="2221992"/>
            <a:ext cx="2286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228B5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2960" y="333756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12642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8680" y="3794760"/>
            <a:ext cx="10058400" cy="182880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 Generate feasible charging slots between EV arrival and departure.</a:t>
            </a:r>
          </a:p>
          <a:p>
            <a:pPr>
              <a:spcAft>
                <a:spcPts val="4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 Score each slot using forecast renewable availability, estimated tariff and grid-emissions factor.</a:t>
            </a:r>
          </a:p>
          <a:p>
            <a:pPr>
              <a:spcAft>
                <a:spcPts val="4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•  Choose the best feasible schedule and compare it with a baseline; explain trade-offs to the user.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131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5800" y="1417320"/>
            <a:ext cx="1069848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C6974"/>
                </a:solidFill>
                <a:latin typeface="Aptos"/>
              </a:defRPr>
            </a:pPr>
            <a:r>
              <a:t>Choose tools that are accessible, demonstrable and easy to explain.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7240" y="1965960"/>
            <a:ext cx="10241280" cy="384048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Python: core data processing, scheduling logic and evaluation.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Pandas + NumPy: time-series cleaning and feature preparation.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Scikit-learn: baseline forecasting model (e.g., Random Forest or regression).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Streamlit: interactive dashboard for inputs, recommendations and comparisons.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Matplotlib / Plotly: solar, demand, cost and emissions visualisations.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Data: public solar-generation / load data where available, or clearly labelled synthetic data for the first prototype.</a:t>
            </a:r>
          </a:p>
          <a:p>
            <a:pPr>
              <a:spcAft>
                <a:spcPts val="7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Optional hardware extension: ESP32 + light/voltage/current sensors; use only low-voltage demo circuits.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960" y="5989320"/>
            <a:ext cx="1005840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28B5E"/>
                </a:solidFill>
                <a:latin typeface="Aptos"/>
              </a:defRPr>
            </a:pPr>
            <a:r>
              <a:t>No real EV battery or mains-voltage control is required for the initial submission.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Result/Outcomes</a:t>
            </a:r>
          </a:p>
        </p:txBody>
      </p:sp>
      <p:sp>
        <p:nvSpPr>
          <p:cNvPr id="133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Results &amp; Evaluation Plan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5800" y="1417320"/>
            <a:ext cx="1069848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C6974"/>
                </a:solidFill>
                <a:latin typeface="Aptos"/>
              </a:defRPr>
            </a:pPr>
            <a:r>
              <a:t>Report measured results only after running the prototype.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7240" y="1920240"/>
            <a:ext cx="5577840" cy="365760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Forecast quality: MAE or RMSE for solar generation / charging demand.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Scheduling: percentage of sessions that meet the requested departure charge.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Cost: compare estimated charging cost against immediate charging.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Emissions: compare estimated CO₂ using the same documented grid factor.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Renewables: estimate the share of charging energy aligned with available solar.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29400" y="1993392"/>
            <a:ext cx="42976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28B5E"/>
                </a:solidFill>
                <a:latin typeface="Aptos"/>
              </a:defRPr>
            </a:pPr>
            <a:r>
              <a:t>Expected deliverables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629400" y="2560320"/>
            <a:ext cx="4206240" cy="246888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Working dashboard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AI forecast evaluation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Baseline vs. smart schedule comparison</a:t>
            </a:r>
          </a:p>
          <a:p>
            <a:pPr>
              <a:spcAft>
                <a:spcPts val="7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Charts and documented assumptions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629400" y="5257800"/>
            <a:ext cx="4251960" cy="822960"/>
          </a:xfrm>
          <a:prstGeom prst="rect">
            <a:avLst/>
          </a:prstGeom>
          <a:solidFill>
            <a:srgbClr val="EBF6F1"/>
          </a:solidFill>
          <a:ln>
            <a:noFill/>
          </a:ln>
        </p:spPr>
        <p:txBody>
          <a:bodyPr wrap="square" lIns="109728" tIns="109728" rIns="109728" bIns="10972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C6974"/>
                </a:solidFill>
                <a:latin typeface="Aptos"/>
              </a:defRPr>
            </a:pPr>
            <a:r>
              <a:t>Do not claim a percentage of savings until the model has been tested on data.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5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" y="2057400"/>
            <a:ext cx="10149840" cy="320040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 EcoCharge AI turns EV charging into a data-driven energy-management problem.</a:t>
            </a:r>
          </a:p>
          <a:p>
            <a:pPr>
              <a:spcAft>
                <a:spcPts val="7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 Forecasting and constrained scheduling can help users compare cleaner and lower-cost charging windows.</a:t>
            </a:r>
          </a:p>
          <a:p>
            <a:pPr>
              <a:spcAft>
                <a:spcPts val="7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 A software prototype makes the idea testable before investing in hardware.</a:t>
            </a:r>
          </a:p>
          <a:p>
            <a:pPr>
              <a:spcAft>
                <a:spcPts val="7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 The project links AI skills with renewable energy, EV infrastructure and measurable sustainability indicators.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8680" y="5577840"/>
            <a:ext cx="100584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28B5E"/>
                </a:solidFill>
                <a:latin typeface="Aptos"/>
              </a:defRPr>
            </a:pPr>
            <a:r>
              <a:t>Key message: smarter charging can support cleaner mobility when recommendations are transparent and validated.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/>
          <p:nvPr/>
        </p:nvSpPr>
        <p:spPr>
          <a:xfrm>
            <a:off x="131390" y="53573"/>
            <a:ext cx="9000000" cy="393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Perspective</a:t>
            </a:r>
          </a:p>
        </p:txBody>
      </p:sp>
      <p:sp>
        <p:nvSpPr>
          <p:cNvPr id="137" name="Content Card"/>
          <p:cNvSpPr/>
          <p:nvPr/>
        </p:nvSpPr>
        <p:spPr>
          <a:xfrm>
            <a:off x="457200" y="914400"/>
            <a:ext cx="11277600" cy="5440680"/>
          </a:xfrm>
          <a:prstGeom prst="roundRect">
            <a:avLst>
              <a:gd name="adj" fmla="val 3000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rgbClr val="BDD7EE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58368" y="960120"/>
            <a:ext cx="1078992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642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2960" y="1965960"/>
            <a:ext cx="10149840" cy="3840480"/>
          </a:xfrm>
          <a:prstGeom prst="rect">
            <a:avLst/>
          </a:prstGeom>
          <a:noFill/>
        </p:spPr>
        <p:txBody>
          <a:bodyPr wrap="square" lIns="73152" tIns="54864" rIns="54864" b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Integrate live weather forecasts and local solar-generation measurements.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Connect to smart meters or charger APIs where access and safety approvals permit.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Extend from one EV to fleet scheduling and campus charging management.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Add battery-aware charging constraints supplied by the vehicle or charger manufacturer.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Run a pilot study and validate recommendations against measured energy and tariff data.</a:t>
            </a:r>
          </a:p>
          <a:p>
            <a:pPr>
              <a:spcAft>
                <a:spcPts val="7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Add a user-friendly mobile interface and multilingual support.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2960" y="5897880"/>
            <a:ext cx="1014984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28B5E"/>
                </a:solidFill>
                <a:latin typeface="Aptos"/>
              </a:defRPr>
            </a:pPr>
            <a:r>
              <a:t>Long-term vision: a campus-scale green charging assistant powered by data and explainable AI.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0D5D7E4D-3C3E-5B6C-3D56-30E42ADA7828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11382280" cy="566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800"/>
            </a:pPr>
            <a:r>
              <a:rPr lang="en-US" sz="6000" b="1">
                <a:solidFill>
                  <a:srgbClr val="213163"/>
                </a:solidFill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978408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2D3741"/>
                </a:solidFill>
                <a:latin typeface="Aptos"/>
              </a:defRPr>
            </a:pPr>
            <a:r>
              <a:t>Smarter charging. Cleaner mobility. Measurable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978408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5C6974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8853611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Blank Pa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1112</Words>
  <Application>Microsoft Office PowerPoint</Application>
  <PresentationFormat>Widescreen</PresentationFormat>
  <Paragraphs>140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Blank Page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Dulari Bhatt</dc:creator>
  <cp:lastModifiedBy>S0785926</cp:lastModifiedBy>
  <cp:revision>6</cp:revision>
  <dcterms:created xsi:type="dcterms:W3CDTF">2024-05-21T11:55:07Z</dcterms:created>
  <dcterms:modified xsi:type="dcterms:W3CDTF">2026-10-23T06:07:05Z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287853FF-63D2-418E-BD9A-1C9576A118F2</vt:lpwstr>
  </property>
  <property fmtid="{D5CDD505-2E9C-101B-9397-08002B2CF9AE}" pid="3" name="ArticulatePath">
    <vt:lpwstr>https://edunetfoundationorg-my.sharepoint.com/personal/kaisar_edunetfoundation_org/Documents/Task/Microsoft Shell/Skills4Future/2025-26/Template/Shell - AI 1</vt:lpwstr>
  </property>
</Properties>
</file>